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bril Fatface" charset="1" panose="02000503000000020003"/>
      <p:regular r:id="rId16"/>
    </p:embeddedFont>
    <p:embeddedFont>
      <p:font typeface="Georgia" charset="1" panose="02040502050405020303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231140" y="783307"/>
            <a:ext cx="8519680" cy="10905191"/>
          </a:xfrm>
          <a:custGeom>
            <a:avLst/>
            <a:gdLst/>
            <a:ahLst/>
            <a:cxnLst/>
            <a:rect r="r" b="b" t="t" l="l"/>
            <a:pathLst>
              <a:path h="10905191" w="8519680">
                <a:moveTo>
                  <a:pt x="0" y="0"/>
                </a:moveTo>
                <a:lnTo>
                  <a:pt x="8519680" y="0"/>
                </a:lnTo>
                <a:lnTo>
                  <a:pt x="8519680" y="10905191"/>
                </a:lnTo>
                <a:lnTo>
                  <a:pt x="0" y="109051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97988" y="7396361"/>
            <a:ext cx="3280941" cy="3456930"/>
          </a:xfrm>
          <a:custGeom>
            <a:avLst/>
            <a:gdLst/>
            <a:ahLst/>
            <a:cxnLst/>
            <a:rect r="r" b="b" t="t" l="l"/>
            <a:pathLst>
              <a:path h="3456930" w="3280941">
                <a:moveTo>
                  <a:pt x="0" y="0"/>
                </a:moveTo>
                <a:lnTo>
                  <a:pt x="3280941" y="0"/>
                </a:lnTo>
                <a:lnTo>
                  <a:pt x="3280941" y="3456931"/>
                </a:lnTo>
                <a:lnTo>
                  <a:pt x="0" y="34569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767472" y="9229725"/>
            <a:ext cx="8061032" cy="665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64"/>
              </a:lnSpc>
            </a:pPr>
            <a:r>
              <a:rPr lang="en-US" sz="4190" spc="113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Presentasi Kelompok 3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233712" y="-1734205"/>
            <a:ext cx="6051176" cy="4114800"/>
          </a:xfrm>
          <a:custGeom>
            <a:avLst/>
            <a:gdLst/>
            <a:ahLst/>
            <a:cxnLst/>
            <a:rect r="r" b="b" t="t" l="l"/>
            <a:pathLst>
              <a:path h="4114800" w="6051176">
                <a:moveTo>
                  <a:pt x="0" y="0"/>
                </a:moveTo>
                <a:lnTo>
                  <a:pt x="6051176" y="0"/>
                </a:lnTo>
                <a:lnTo>
                  <a:pt x="60511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518811" y="2366369"/>
            <a:ext cx="13919647" cy="1147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262"/>
              </a:lnSpc>
            </a:pPr>
            <a:r>
              <a:rPr lang="en-US" sz="7236" spc="195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DIGIPLAN (Digital Planner)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194382" y="3518594"/>
            <a:ext cx="9661067" cy="1624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90"/>
              </a:lnSpc>
            </a:pPr>
            <a:r>
              <a:rPr lang="en-US" sz="3351" spc="9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Aplikasi mobile untuk membantu mahasiswa mengelola tugas, jadwal, deadline, dan waktu belajar secara lebih teratur.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316210" y="5717306"/>
            <a:ext cx="11655581" cy="5185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64"/>
              </a:lnSpc>
            </a:pPr>
            <a:r>
              <a:rPr lang="en-US" sz="3332" spc="89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Dosen Pengampu : Adi Wahyu Pribadi, S.Si., M.Kom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660360" y="6281222"/>
            <a:ext cx="6967279" cy="522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0"/>
              </a:lnSpc>
            </a:pPr>
            <a:r>
              <a:rPr lang="en-US" sz="3125" spc="84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Mata Kuliah : Kewirausahaan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797988" y="7396361"/>
            <a:ext cx="3280941" cy="3456930"/>
          </a:xfrm>
          <a:custGeom>
            <a:avLst/>
            <a:gdLst/>
            <a:ahLst/>
            <a:cxnLst/>
            <a:rect r="r" b="b" t="t" l="l"/>
            <a:pathLst>
              <a:path h="3456930" w="3280941">
                <a:moveTo>
                  <a:pt x="0" y="0"/>
                </a:moveTo>
                <a:lnTo>
                  <a:pt x="3280941" y="0"/>
                </a:lnTo>
                <a:lnTo>
                  <a:pt x="3280941" y="3456931"/>
                </a:lnTo>
                <a:lnTo>
                  <a:pt x="0" y="34569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412870" y="-1634293"/>
            <a:ext cx="6051176" cy="4114800"/>
          </a:xfrm>
          <a:custGeom>
            <a:avLst/>
            <a:gdLst/>
            <a:ahLst/>
            <a:cxnLst/>
            <a:rect r="r" b="b" t="t" l="l"/>
            <a:pathLst>
              <a:path h="4114800" w="6051176">
                <a:moveTo>
                  <a:pt x="0" y="0"/>
                </a:moveTo>
                <a:lnTo>
                  <a:pt x="6051177" y="0"/>
                </a:lnTo>
                <a:lnTo>
                  <a:pt x="605117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475881" y="904875"/>
            <a:ext cx="10364133" cy="1122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208"/>
              </a:lnSpc>
            </a:pPr>
            <a:r>
              <a:rPr lang="en-US" sz="6577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ANGGOTA KELOMPOK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66332" y="2802869"/>
            <a:ext cx="3786949" cy="3508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4525210042 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4525210035 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4524210029 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4524210030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4524210090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889229" y="2802869"/>
            <a:ext cx="5235951" cy="341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4"/>
              </a:lnSpc>
              <a:spcBef>
                <a:spcPct val="0"/>
              </a:spcBef>
            </a:pPr>
            <a:r>
              <a:rPr lang="en-US" sz="3924" spc="105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Muhamad Rasha Zein</a:t>
            </a:r>
          </a:p>
          <a:p>
            <a:pPr algn="l">
              <a:lnSpc>
                <a:spcPts val="5494"/>
              </a:lnSpc>
              <a:spcBef>
                <a:spcPct val="0"/>
              </a:spcBef>
            </a:pPr>
            <a:r>
              <a:rPr lang="en-US" sz="3924" spc="105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Khairul Adam Efendi</a:t>
            </a:r>
          </a:p>
          <a:p>
            <a:pPr algn="l">
              <a:lnSpc>
                <a:spcPts val="5494"/>
              </a:lnSpc>
              <a:spcBef>
                <a:spcPct val="0"/>
              </a:spcBef>
            </a:pPr>
            <a:r>
              <a:rPr lang="en-US" sz="3924" spc="105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Dzikrullah Surachman</a:t>
            </a:r>
          </a:p>
          <a:p>
            <a:pPr algn="l">
              <a:lnSpc>
                <a:spcPts val="5494"/>
              </a:lnSpc>
              <a:spcBef>
                <a:spcPct val="0"/>
              </a:spcBef>
            </a:pPr>
            <a:r>
              <a:rPr lang="en-US" sz="3924" spc="105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Elsa Setia Marcsa</a:t>
            </a:r>
          </a:p>
          <a:p>
            <a:pPr algn="l">
              <a:lnSpc>
                <a:spcPts val="5494"/>
              </a:lnSpc>
              <a:spcBef>
                <a:spcPct val="0"/>
              </a:spcBef>
            </a:pPr>
            <a:r>
              <a:rPr lang="en-US" sz="3924" spc="105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Ririn Verdawati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935615" y="6950839"/>
            <a:ext cx="4416770" cy="106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07"/>
              </a:lnSpc>
              <a:spcBef>
                <a:spcPct val="0"/>
              </a:spcBef>
            </a:pPr>
            <a:r>
              <a:rPr lang="en-US" sz="6219" spc="1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Kelompok 3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4950388" y="7548761"/>
            <a:ext cx="3280941" cy="3456930"/>
          </a:xfrm>
          <a:custGeom>
            <a:avLst/>
            <a:gdLst/>
            <a:ahLst/>
            <a:cxnLst/>
            <a:rect r="r" b="b" t="t" l="l"/>
            <a:pathLst>
              <a:path h="3456930" w="3280941">
                <a:moveTo>
                  <a:pt x="0" y="0"/>
                </a:moveTo>
                <a:lnTo>
                  <a:pt x="3280941" y="0"/>
                </a:lnTo>
                <a:lnTo>
                  <a:pt x="3280941" y="3456931"/>
                </a:lnTo>
                <a:lnTo>
                  <a:pt x="0" y="34569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294456" y="4536240"/>
            <a:ext cx="6099394" cy="2042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54"/>
              </a:lnSpc>
            </a:pPr>
            <a:r>
              <a:rPr lang="en-US" sz="289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Narasumber: Anra Maki Tihami </a:t>
            </a:r>
          </a:p>
          <a:p>
            <a:pPr algn="just">
              <a:lnSpc>
                <a:spcPts val="4054"/>
              </a:lnSpc>
            </a:pPr>
            <a:r>
              <a:rPr lang="en-US" sz="289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NPM: 4525210013 </a:t>
            </a:r>
          </a:p>
          <a:p>
            <a:pPr algn="just">
              <a:lnSpc>
                <a:spcPts val="4054"/>
              </a:lnSpc>
            </a:pPr>
            <a:r>
              <a:rPr lang="en-US" sz="289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Pewawancara: Muhamad Rasha Zein </a:t>
            </a:r>
          </a:p>
          <a:p>
            <a:pPr algn="just">
              <a:lnSpc>
                <a:spcPts val="4054"/>
              </a:lnSpc>
            </a:pPr>
            <a:r>
              <a:rPr lang="en-US" sz="289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Tanggal: 14 September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344247" y="885825"/>
            <a:ext cx="9851254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sz="7499" spc="20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Awal Mula Masalah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69726" y="2715519"/>
            <a:ext cx="8892402" cy="6542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714"/>
              </a:lnSpc>
            </a:pP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Hasil Wawancara temukan : </a:t>
            </a:r>
          </a:p>
          <a:p>
            <a:pPr algn="just" marL="726996" indent="-363498" lvl="1">
              <a:lnSpc>
                <a:spcPts val="4714"/>
              </a:lnSpc>
              <a:buFont typeface="Arial"/>
              <a:buChar char="•"/>
            </a:pP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Tugas diberikan melalui berbagai platform.</a:t>
            </a:r>
          </a:p>
          <a:p>
            <a:pPr algn="just" marL="726996" indent="-363498" lvl="1">
              <a:lnSpc>
                <a:spcPts val="4714"/>
              </a:lnSpc>
              <a:buFont typeface="Arial"/>
              <a:buChar char="•"/>
            </a:pP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Info</a:t>
            </a: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rmasi tugas terkadang hanya disampaikan di kelas.</a:t>
            </a:r>
          </a:p>
          <a:p>
            <a:pPr algn="just" marL="726996" indent="-363498" lvl="1">
              <a:lnSpc>
                <a:spcPts val="4714"/>
              </a:lnSpc>
              <a:buFont typeface="Arial"/>
              <a:buChar char="•"/>
            </a:pP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Sering lupa deadline tugas.</a:t>
            </a:r>
          </a:p>
          <a:p>
            <a:pPr algn="just" marL="726996" indent="-363498" lvl="1">
              <a:lnSpc>
                <a:spcPts val="4714"/>
              </a:lnSpc>
              <a:buFont typeface="Arial"/>
              <a:buChar char="•"/>
            </a:pP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</a:t>
            </a: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anyaknya tugas dan kegiatan membuat sulit menentukan prioritas.</a:t>
            </a:r>
          </a:p>
          <a:p>
            <a:pPr algn="just" marL="726996" indent="-363498" lvl="1">
              <a:lnSpc>
                <a:spcPts val="4714"/>
              </a:lnSpc>
              <a:buFont typeface="Arial"/>
              <a:buChar char="•"/>
            </a:pP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Akib</a:t>
            </a:r>
            <a:r>
              <a:rPr lang="en-US" sz="3367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atnya, beberapa tugas terlambat dikumpulkan.</a:t>
            </a:r>
          </a:p>
          <a:p>
            <a:pPr algn="just">
              <a:lnSpc>
                <a:spcPts val="4714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90971" y="1028700"/>
            <a:ext cx="9106058" cy="47625"/>
          </a:xfrm>
          <a:custGeom>
            <a:avLst/>
            <a:gdLst/>
            <a:ahLst/>
            <a:cxnLst/>
            <a:rect r="r" b="b" t="t" l="l"/>
            <a:pathLst>
              <a:path h="47625" w="9106058">
                <a:moveTo>
                  <a:pt x="0" y="0"/>
                </a:moveTo>
                <a:lnTo>
                  <a:pt x="9106058" y="0"/>
                </a:lnTo>
                <a:lnTo>
                  <a:pt x="9106058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1718000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784357" y="1654645"/>
            <a:ext cx="12008778" cy="1184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spc="188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Masalah Yang Ditemukan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2958098" y="3541065"/>
            <a:ext cx="6465193" cy="4596164"/>
          </a:xfrm>
          <a:custGeom>
            <a:avLst/>
            <a:gdLst/>
            <a:ahLst/>
            <a:cxnLst/>
            <a:rect r="r" b="b" t="t" l="l"/>
            <a:pathLst>
              <a:path h="4596164" w="6465193">
                <a:moveTo>
                  <a:pt x="0" y="0"/>
                </a:moveTo>
                <a:lnTo>
                  <a:pt x="6465193" y="0"/>
                </a:lnTo>
                <a:lnTo>
                  <a:pt x="6465193" y="4596164"/>
                </a:lnTo>
                <a:lnTo>
                  <a:pt x="0" y="45961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431193" y="4904881"/>
            <a:ext cx="5519004" cy="22979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3"/>
              </a:lnSpc>
            </a:pPr>
            <a:r>
              <a:rPr lang="en-US" sz="3281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Mahasiswa kesulitan mengelola tugas, jadwal, dan deadline akademik secara efektif.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033963" y="3541065"/>
            <a:ext cx="6465193" cy="4596164"/>
          </a:xfrm>
          <a:custGeom>
            <a:avLst/>
            <a:gdLst/>
            <a:ahLst/>
            <a:cxnLst/>
            <a:rect r="r" b="b" t="t" l="l"/>
            <a:pathLst>
              <a:path h="4596164" w="6465193">
                <a:moveTo>
                  <a:pt x="0" y="0"/>
                </a:moveTo>
                <a:lnTo>
                  <a:pt x="6465192" y="0"/>
                </a:lnTo>
                <a:lnTo>
                  <a:pt x="6465192" y="4596164"/>
                </a:lnTo>
                <a:lnTo>
                  <a:pt x="0" y="45961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431193" y="4116779"/>
            <a:ext cx="5519004" cy="554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3"/>
              </a:lnSpc>
            </a:pPr>
            <a:r>
              <a:rPr lang="en-US" sz="3281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Problem yang Kami Temukan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682934" y="3867938"/>
            <a:ext cx="5519004" cy="554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3"/>
              </a:lnSpc>
            </a:pPr>
            <a:r>
              <a:rPr lang="en-US" sz="3281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Penyebab :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68396" y="4346570"/>
            <a:ext cx="5633541" cy="3817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7755" indent="-293878" lvl="1">
              <a:lnSpc>
                <a:spcPts val="3811"/>
              </a:lnSpc>
              <a:buFont typeface="Arial"/>
              <a:buChar char="•"/>
            </a:pPr>
            <a:r>
              <a:rPr lang="en-US" sz="2722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Informasi tugas tersebar di berbagai platform.</a:t>
            </a:r>
          </a:p>
          <a:p>
            <a:pPr algn="l" marL="587755" indent="-293878" lvl="1">
              <a:lnSpc>
                <a:spcPts val="3811"/>
              </a:lnSpc>
              <a:buFont typeface="Arial"/>
              <a:buChar char="•"/>
            </a:pPr>
            <a:r>
              <a:rPr lang="en-US" sz="2722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Lupa jadwal dan deadline.</a:t>
            </a:r>
          </a:p>
          <a:p>
            <a:pPr algn="l" marL="587755" indent="-293878" lvl="1">
              <a:lnSpc>
                <a:spcPts val="3811"/>
              </a:lnSpc>
              <a:buFont typeface="Arial"/>
              <a:buChar char="•"/>
            </a:pPr>
            <a:r>
              <a:rPr lang="en-US" sz="2722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Banyaknya tugas dan SKS.</a:t>
            </a:r>
          </a:p>
          <a:p>
            <a:pPr algn="l" marL="587755" indent="-293878" lvl="1">
              <a:lnSpc>
                <a:spcPts val="3811"/>
              </a:lnSpc>
              <a:buFont typeface="Arial"/>
              <a:buChar char="•"/>
            </a:pPr>
            <a:r>
              <a:rPr lang="en-US" sz="2722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Sulit menentukan prioritas.</a:t>
            </a:r>
          </a:p>
          <a:p>
            <a:pPr algn="l" marL="587755" indent="-293878" lvl="1">
              <a:lnSpc>
                <a:spcPts val="3811"/>
              </a:lnSpc>
              <a:buFont typeface="Arial"/>
              <a:buChar char="•"/>
            </a:pPr>
            <a:r>
              <a:rPr lang="en-US" sz="2722">
                <a:solidFill>
                  <a:srgbClr val="192362"/>
                </a:solidFill>
                <a:latin typeface="Georgia"/>
                <a:ea typeface="Georgia"/>
                <a:cs typeface="Georgia"/>
                <a:sym typeface="Georgia"/>
              </a:rPr>
              <a:t>Harus mengecek beberapa sistem secara manual.</a:t>
            </a:r>
          </a:p>
          <a:p>
            <a:pPr algn="ctr">
              <a:lnSpc>
                <a:spcPts val="3811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00123" y="1677149"/>
            <a:ext cx="12426341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sz="7499" spc="20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Problem Statement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930830" y="3522913"/>
            <a:ext cx="12695634" cy="41067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4"/>
              </a:lnSpc>
            </a:pPr>
            <a:r>
              <a:rPr lang="en-US" sz="388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Masalah Utama</a:t>
            </a:r>
          </a:p>
          <a:p>
            <a:pPr algn="ctr">
              <a:lnSpc>
                <a:spcPts val="5434"/>
              </a:lnSpc>
            </a:pPr>
            <a:r>
              <a:rPr lang="en-US" sz="388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Kurangnya sistem pengingat dan manajemen jadwal akademik yang otomatis, praktis, dan real-time menyebabkan mahasiswa sering melewatkan deadline dan kesulitan mengatur prioritas belajar.</a:t>
            </a:r>
          </a:p>
          <a:p>
            <a:pPr algn="ctr">
              <a:lnSpc>
                <a:spcPts val="5434"/>
              </a:lnSpc>
            </a:p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44247" y="2795469"/>
            <a:ext cx="12565340" cy="5636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6"/>
              </a:lnSpc>
            </a:pPr>
          </a:p>
          <a:p>
            <a:pPr algn="l">
              <a:lnSpc>
                <a:spcPts val="4426"/>
              </a:lnSpc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DigiPlan adalah aplikasi mobile yang membantu pengguna:</a:t>
            </a:r>
          </a:p>
          <a:p>
            <a:pPr algn="l" marL="955600" indent="-477800" lvl="1">
              <a:lnSpc>
                <a:spcPts val="4426"/>
              </a:lnSpc>
              <a:buFont typeface="Arial"/>
              <a:buChar char="•"/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Mengelola tugas dan jadwal dalam satu tempat.</a:t>
            </a:r>
          </a:p>
          <a:p>
            <a:pPr algn="l" marL="955600" indent="-477800" lvl="1">
              <a:lnSpc>
                <a:spcPts val="4426"/>
              </a:lnSpc>
              <a:buFont typeface="Arial"/>
              <a:buChar char="•"/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Mengatur prioritas tugas.</a:t>
            </a:r>
          </a:p>
          <a:p>
            <a:pPr algn="l" marL="955600" indent="-477800" lvl="1">
              <a:lnSpc>
                <a:spcPts val="4426"/>
              </a:lnSpc>
              <a:buFont typeface="Arial"/>
              <a:buChar char="•"/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Membuat jadwal belajar otomatis.</a:t>
            </a:r>
          </a:p>
          <a:p>
            <a:pPr algn="l" marL="955600" indent="-477800" lvl="1">
              <a:lnSpc>
                <a:spcPts val="4426"/>
              </a:lnSpc>
              <a:buFont typeface="Arial"/>
              <a:buChar char="•"/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Mendapatkan pengingat deadline.</a:t>
            </a:r>
          </a:p>
          <a:p>
            <a:pPr algn="l" marL="955600" indent="-477800" lvl="1">
              <a:lnSpc>
                <a:spcPts val="4426"/>
              </a:lnSpc>
              <a:buFont typeface="Arial"/>
              <a:buChar char="•"/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Mengetahui tugas yang sedang menumpuk.</a:t>
            </a:r>
          </a:p>
          <a:p>
            <a:pPr algn="l" marL="955600" indent="-477800" lvl="1">
              <a:lnSpc>
                <a:spcPts val="4426"/>
              </a:lnSpc>
              <a:buFont typeface="Arial"/>
              <a:buChar char="•"/>
            </a:pPr>
            <a:r>
              <a:rPr lang="en-US" sz="4426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Memantau progres tugas kelompok.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25972" y="1287127"/>
            <a:ext cx="9039674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sz="7499" spc="20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Solusi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7013834">
            <a:off x="-855508" y="3304447"/>
            <a:ext cx="1295327" cy="1140949"/>
          </a:xfrm>
          <a:custGeom>
            <a:avLst/>
            <a:gdLst/>
            <a:ahLst/>
            <a:cxnLst/>
            <a:rect r="r" b="b" t="t" l="l"/>
            <a:pathLst>
              <a:path h="1140949" w="1295327">
                <a:moveTo>
                  <a:pt x="0" y="0"/>
                </a:moveTo>
                <a:lnTo>
                  <a:pt x="1295327" y="0"/>
                </a:lnTo>
                <a:lnTo>
                  <a:pt x="1295327" y="1140949"/>
                </a:lnTo>
                <a:lnTo>
                  <a:pt x="0" y="114094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253900" y="2762004"/>
            <a:ext cx="14454888" cy="6243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46"/>
              </a:lnSpc>
            </a:pPr>
            <a:r>
              <a:rPr lang="en-US" sz="396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Pertanyaan yang Ingin Kami Selesaikan</a:t>
            </a:r>
          </a:p>
          <a:p>
            <a:pPr algn="l" marL="855335" indent="-427667" lvl="1">
              <a:lnSpc>
                <a:spcPts val="5546"/>
              </a:lnSpc>
              <a:buFont typeface="Arial"/>
              <a:buChar char="•"/>
            </a:pPr>
            <a:r>
              <a:rPr lang="en-US" sz="396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Bagaimana mengambil data akademik secara otomatis dari LMS?</a:t>
            </a:r>
          </a:p>
          <a:p>
            <a:pPr algn="l" marL="855335" indent="-427667" lvl="1">
              <a:lnSpc>
                <a:spcPts val="5546"/>
              </a:lnSpc>
              <a:buFont typeface="Arial"/>
              <a:buChar char="•"/>
            </a:pPr>
            <a:r>
              <a:rPr lang="en-US" sz="396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Bagaimana menentukan prioritas tugas berdasarkan deadline dan bobot?</a:t>
            </a:r>
          </a:p>
          <a:p>
            <a:pPr algn="l" marL="855335" indent="-427667" lvl="1">
              <a:lnSpc>
                <a:spcPts val="5546"/>
              </a:lnSpc>
              <a:buFont typeface="Arial"/>
              <a:buChar char="•"/>
            </a:pPr>
            <a:r>
              <a:rPr lang="en-US" sz="396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Bagaimana memberikan notifikasi dan rekomendasi waktu belajar?</a:t>
            </a:r>
          </a:p>
          <a:p>
            <a:pPr algn="l" marL="855335" indent="-427667" lvl="1">
              <a:lnSpc>
                <a:spcPts val="5546"/>
              </a:lnSpc>
              <a:buFont typeface="Arial"/>
              <a:buChar char="•"/>
            </a:pPr>
            <a:r>
              <a:rPr lang="en-US" sz="396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Bagaimana membuat UI/UX yang sesuai dengan kebutuhan pengguna?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961506" y="1034840"/>
            <a:ext cx="9039674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sz="7499" spc="20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Rumusan Masalah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1009602" y="5450966"/>
            <a:ext cx="3666535" cy="6432518"/>
          </a:xfrm>
          <a:custGeom>
            <a:avLst/>
            <a:gdLst/>
            <a:ahLst/>
            <a:cxnLst/>
            <a:rect r="r" b="b" t="t" l="l"/>
            <a:pathLst>
              <a:path h="6432518" w="3666535">
                <a:moveTo>
                  <a:pt x="0" y="0"/>
                </a:moveTo>
                <a:lnTo>
                  <a:pt x="3666535" y="0"/>
                </a:lnTo>
                <a:lnTo>
                  <a:pt x="3666535" y="6432518"/>
                </a:lnTo>
                <a:lnTo>
                  <a:pt x="0" y="64325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7142861">
            <a:off x="2591393" y="9905988"/>
            <a:ext cx="1888996" cy="1663864"/>
          </a:xfrm>
          <a:custGeom>
            <a:avLst/>
            <a:gdLst/>
            <a:ahLst/>
            <a:cxnLst/>
            <a:rect r="r" b="b" t="t" l="l"/>
            <a:pathLst>
              <a:path h="1663864" w="1888996">
                <a:moveTo>
                  <a:pt x="0" y="0"/>
                </a:moveTo>
                <a:lnTo>
                  <a:pt x="1888996" y="0"/>
                </a:lnTo>
                <a:lnTo>
                  <a:pt x="1888996" y="1663864"/>
                </a:lnTo>
                <a:lnTo>
                  <a:pt x="0" y="166386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981693" y="1110411"/>
            <a:ext cx="8713993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sz="7499" spc="20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Tujuan Utama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535891" y="2919087"/>
            <a:ext cx="13756122" cy="5980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62"/>
              </a:lnSpc>
            </a:pPr>
            <a:r>
              <a:rPr lang="en-US" sz="3758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Tujuan Pengembangan DigiPlan</a:t>
            </a:r>
          </a:p>
          <a:p>
            <a:pPr algn="l" marL="811510" indent="-405755" lvl="1">
              <a:lnSpc>
                <a:spcPts val="5262"/>
              </a:lnSpc>
              <a:buFont typeface="Arial"/>
              <a:buChar char="•"/>
            </a:pPr>
            <a:r>
              <a:rPr lang="en-US" sz="3758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Sinkronisasi Data : Mengumpulkan jadwal, silabus, dan deadline dalam satu tempat.</a:t>
            </a:r>
          </a:p>
          <a:p>
            <a:pPr algn="l" marL="811510" indent="-405755" lvl="1">
              <a:lnSpc>
                <a:spcPts val="5262"/>
              </a:lnSpc>
              <a:buFont typeface="Arial"/>
              <a:buChar char="•"/>
            </a:pPr>
            <a:r>
              <a:rPr lang="en-US" sz="3758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Smart Scheduling : Menyusun jadwal pengerjaan berdasarkan prioritas, bobot, dan deadline.</a:t>
            </a:r>
          </a:p>
          <a:p>
            <a:pPr algn="l" marL="811510" indent="-405755" lvl="1">
              <a:lnSpc>
                <a:spcPts val="5262"/>
              </a:lnSpc>
              <a:buFont typeface="Arial"/>
              <a:buChar char="•"/>
            </a:pPr>
            <a:r>
              <a:rPr lang="en-US" sz="3758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Notifikasi Proaktif : Memberikan pengingat deadline dan rekomendasi waktu belajar.</a:t>
            </a:r>
          </a:p>
          <a:p>
            <a:pPr algn="l" marL="811510" indent="-405755" lvl="1">
              <a:lnSpc>
                <a:spcPts val="5262"/>
              </a:lnSpc>
              <a:buFont typeface="Arial"/>
              <a:buChar char="•"/>
            </a:pPr>
            <a:r>
              <a:rPr lang="en-US" sz="3758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Dashboard &amp; Kolaborasi : Membantu pengguna melihat aktivitas dan progres tugas kelompok.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990974" y="2468317"/>
            <a:ext cx="13238984" cy="5395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775"/>
              </a:lnSpc>
            </a:pPr>
          </a:p>
          <a:p>
            <a:pPr algn="ctr">
              <a:lnSpc>
                <a:spcPts val="4775"/>
              </a:lnSpc>
            </a:pPr>
            <a:r>
              <a:rPr lang="en-US" sz="341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DigiPlan hadir berdasarkan masalah nyata yang dialami mahasiswa dalam mengelola tugas dan </a:t>
            </a:r>
            <a:r>
              <a:rPr lang="en-US" sz="341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jadwal akademik.</a:t>
            </a:r>
          </a:p>
          <a:p>
            <a:pPr algn="ctr">
              <a:lnSpc>
                <a:spcPts val="4775"/>
              </a:lnSpc>
            </a:pPr>
          </a:p>
          <a:p>
            <a:pPr algn="ctr">
              <a:lnSpc>
                <a:spcPts val="4775"/>
              </a:lnSpc>
            </a:pPr>
            <a:r>
              <a:rPr lang="en-US" sz="341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Dengan menggabungkan sinkronisasi data, Smart Scheduling, notifikasi, dan progress tracking, DigiPlan diharapkan dapat membantu mahasiswa mengatur waktu dan menyelesaikan tugas dengan lebih terorganisir.</a:t>
            </a:r>
          </a:p>
          <a:p>
            <a:pPr algn="ctr">
              <a:lnSpc>
                <a:spcPts val="4775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4160620">
            <a:off x="-749912" y="9974378"/>
            <a:ext cx="1627529" cy="1433559"/>
          </a:xfrm>
          <a:custGeom>
            <a:avLst/>
            <a:gdLst/>
            <a:ahLst/>
            <a:cxnLst/>
            <a:rect r="r" b="b" t="t" l="l"/>
            <a:pathLst>
              <a:path h="1433559" w="1627529">
                <a:moveTo>
                  <a:pt x="0" y="0"/>
                </a:moveTo>
                <a:lnTo>
                  <a:pt x="1627530" y="0"/>
                </a:lnTo>
                <a:lnTo>
                  <a:pt x="1627530" y="1433560"/>
                </a:lnTo>
                <a:lnTo>
                  <a:pt x="0" y="14335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514856" y="1067126"/>
            <a:ext cx="8713993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sz="7499" spc="20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Kesimpulan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147372" y="358691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0" y="0"/>
                </a:moveTo>
                <a:lnTo>
                  <a:pt x="2668919" y="0"/>
                </a:lnTo>
                <a:lnTo>
                  <a:pt x="2668919" y="1638049"/>
                </a:lnTo>
                <a:lnTo>
                  <a:pt x="0" y="16380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529649" y="2733173"/>
            <a:ext cx="10374170" cy="4839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69"/>
              </a:lnSpc>
            </a:pPr>
            <a:r>
              <a:rPr lang="en-US" sz="16024" spc="432">
                <a:solidFill>
                  <a:srgbClr val="FFFFFF"/>
                </a:solidFill>
                <a:latin typeface="Abril Fatface"/>
                <a:ea typeface="Abril Fatface"/>
                <a:cs typeface="Abril Fatface"/>
                <a:sym typeface="Abril Fatface"/>
              </a:rPr>
              <a:t>Terima Kasih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1707401" y="1820024"/>
            <a:ext cx="6051648" cy="10616926"/>
          </a:xfrm>
          <a:custGeom>
            <a:avLst/>
            <a:gdLst/>
            <a:ahLst/>
            <a:cxnLst/>
            <a:rect r="r" b="b" t="t" l="l"/>
            <a:pathLst>
              <a:path h="10616926" w="6051648">
                <a:moveTo>
                  <a:pt x="0" y="0"/>
                </a:moveTo>
                <a:lnTo>
                  <a:pt x="6051648" y="0"/>
                </a:lnTo>
                <a:lnTo>
                  <a:pt x="6051648" y="10616926"/>
                </a:lnTo>
                <a:lnTo>
                  <a:pt x="0" y="106169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3992065" y="867164"/>
            <a:ext cx="2668919" cy="1638049"/>
          </a:xfrm>
          <a:custGeom>
            <a:avLst/>
            <a:gdLst/>
            <a:ahLst/>
            <a:cxnLst/>
            <a:rect r="r" b="b" t="t" l="l"/>
            <a:pathLst>
              <a:path h="1638049" w="2668919">
                <a:moveTo>
                  <a:pt x="2668919" y="0"/>
                </a:moveTo>
                <a:lnTo>
                  <a:pt x="0" y="0"/>
                </a:lnTo>
                <a:lnTo>
                  <a:pt x="0" y="1638049"/>
                </a:lnTo>
                <a:lnTo>
                  <a:pt x="2668919" y="1638049"/>
                </a:lnTo>
                <a:lnTo>
                  <a:pt x="2668919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200890" y="7128487"/>
            <a:ext cx="3280941" cy="3456930"/>
          </a:xfrm>
          <a:custGeom>
            <a:avLst/>
            <a:gdLst/>
            <a:ahLst/>
            <a:cxnLst/>
            <a:rect r="r" b="b" t="t" l="l"/>
            <a:pathLst>
              <a:path h="3456930" w="3280941">
                <a:moveTo>
                  <a:pt x="0" y="0"/>
                </a:moveTo>
                <a:lnTo>
                  <a:pt x="3280941" y="0"/>
                </a:lnTo>
                <a:lnTo>
                  <a:pt x="3280941" y="3456930"/>
                </a:lnTo>
                <a:lnTo>
                  <a:pt x="0" y="34569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333300" y="2505213"/>
            <a:ext cx="6051176" cy="4114800"/>
          </a:xfrm>
          <a:custGeom>
            <a:avLst/>
            <a:gdLst/>
            <a:ahLst/>
            <a:cxnLst/>
            <a:rect r="r" b="b" t="t" l="l"/>
            <a:pathLst>
              <a:path h="4114800" w="6051176">
                <a:moveTo>
                  <a:pt x="0" y="0"/>
                </a:moveTo>
                <a:lnTo>
                  <a:pt x="6051176" y="0"/>
                </a:lnTo>
                <a:lnTo>
                  <a:pt x="60511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DAHWCJiwGOE</dc:identifier>
  <dcterms:modified xsi:type="dcterms:W3CDTF">2011-08-01T06:04:30Z</dcterms:modified>
  <cp:revision>1</cp:revision>
  <dc:title>PPT Presentasi Awal _DigiPlan_Kelompok 3</dc:title>
</cp:coreProperties>
</file>